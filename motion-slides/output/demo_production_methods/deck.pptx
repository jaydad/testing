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5개 계열 개관 — 다음 장면부터 ③·④ 상세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_proj"/>
          <p:cNvSpPr/>
          <p:nvPr/>
        </p:nvSpPr>
        <p:spPr>
          <a:xfrm>
            <a:off x="9262872" y="4572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Pretendard"/>
                <a:ea typeface="Pretendard"/>
              </a:rPr>
              <a:t>AX · Motion Slide Test</a:t>
            </a:r>
          </a:p>
        </p:txBody>
      </p:sp>
      <p:sp>
        <p:nvSpPr>
          <p:cNvPr id="3" name="!!_title"/>
          <p:cNvSpPr/>
          <p:nvPr/>
        </p:nvSpPr>
        <p:spPr>
          <a:xfrm>
            <a:off x="548640" y="41148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12060"/>
                </a:solidFill>
                <a:latin typeface="Pretendard"/>
                <a:ea typeface="Pretendard"/>
              </a:rPr>
              <a:t>배경 애니메이션 슬라이드 제작 방식</a:t>
            </a:r>
          </a:p>
        </p:txBody>
      </p:sp>
      <p:sp>
        <p:nvSpPr>
          <p:cNvPr id="4" name="!!_sub"/>
          <p:cNvSpPr/>
          <p:nvPr/>
        </p:nvSpPr>
        <p:spPr>
          <a:xfrm>
            <a:off x="548640" y="105156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04040"/>
                </a:solidFill>
                <a:latin typeface="Pretendard"/>
                <a:ea typeface="Pretendard"/>
              </a:rPr>
              <a:t>— 5개 계열 개관</a:t>
            </a:r>
          </a:p>
        </p:txBody>
      </p:sp>
      <p:sp>
        <p:nvSpPr>
          <p:cNvPr id="5" name="!!_div"/>
          <p:cNvSpPr/>
          <p:nvPr/>
        </p:nvSpPr>
        <p:spPr>
          <a:xfrm>
            <a:off x="548640" y="1504188"/>
            <a:ext cx="11091672" cy="12801"/>
          </a:xfrm>
          <a:prstGeom prst="rect">
            <a:avLst/>
          </a:prstGeom>
          <a:solidFill>
            <a:srgbClr val="012060"/>
          </a:solidFill>
          <a:ln>
            <a:noFill/>
          </a:ln>
        </p:spPr>
        <p:txBody>
          <a:bodyPr rtlCol="0" anchor="t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6" name="!!_pg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12060"/>
                </a:solidFill>
                <a:latin typeface="Pretendard"/>
                <a:ea typeface="Pretendard"/>
              </a:rPr>
              <a:t>01  /  04</a:t>
            </a:r>
          </a:p>
        </p:txBody>
      </p:sp>
      <p:sp>
        <p:nvSpPr>
          <p:cNvPr id="7" name="!!c1"/>
          <p:cNvSpPr/>
          <p:nvPr/>
        </p:nvSpPr>
        <p:spPr>
          <a:xfrm>
            <a:off x="548640" y="1783080"/>
            <a:ext cx="2039112" cy="3429000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t" wrap="square" lIns="228600" rIns="228600" tIns="182880" bIns="182880">
            <a:noAutofit/>
          </a:bodyPr>
          <a:lstStyle/>
          <a:p>
            <a:pPr algn="l">
              <a:spcAft>
                <a:spcPts val="1200"/>
              </a:spcAft>
            </a:pPr>
            <a:r>
              <a:rPr sz="3200" b="1">
                <a:solidFill>
                  <a:srgbClr val="012060"/>
                </a:solidFill>
                <a:latin typeface="Pretendard"/>
                <a:ea typeface="Pretendard"/>
              </a:rPr>
              <a:t>01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012060"/>
                </a:solidFill>
                <a:latin typeface="Pretendard"/>
                <a:ea typeface="Pretendard"/>
              </a:rPr>
              <a:t>슬라이드 전환형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404040"/>
                </a:solidFill>
                <a:latin typeface="Pretendard"/>
                <a:ea typeface="Pretendard"/>
              </a:rPr>
              <a:t>PowerPoint 모핑 · Keynote Magic Move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08080"/>
                </a:solidFill>
                <a:latin typeface="Pretendard"/>
                <a:ea typeface="Pretendard"/>
              </a:rPr>
              <a:t>같은 개체의 위치·크기·색 변화 자동 보간</a:t>
            </a:r>
          </a:p>
        </p:txBody>
      </p:sp>
      <p:sp>
        <p:nvSpPr>
          <p:cNvPr id="8" name="!!c2"/>
          <p:cNvSpPr/>
          <p:nvPr/>
        </p:nvSpPr>
        <p:spPr>
          <a:xfrm>
            <a:off x="2816352" y="1783080"/>
            <a:ext cx="2039112" cy="3429000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t" wrap="square" lIns="228600" rIns="228600" tIns="182880" bIns="182880">
            <a:noAutofit/>
          </a:bodyPr>
          <a:lstStyle/>
          <a:p>
            <a:pPr algn="l">
              <a:spcAft>
                <a:spcPts val="1200"/>
              </a:spcAft>
            </a:pPr>
            <a:r>
              <a:rPr sz="3200" b="1">
                <a:solidFill>
                  <a:srgbClr val="012060"/>
                </a:solidFill>
                <a:latin typeface="Pretendard"/>
                <a:ea typeface="Pretendard"/>
              </a:rPr>
              <a:t>02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012060"/>
                </a:solidFill>
                <a:latin typeface="Pretendard"/>
                <a:ea typeface="Pretendard"/>
              </a:rPr>
              <a:t>모션그래픽 툴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404040"/>
                </a:solidFill>
                <a:latin typeface="Pretendard"/>
                <a:ea typeface="Pretendard"/>
              </a:rPr>
              <a:t>After Effects + 템플릿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08080"/>
                </a:solidFill>
                <a:latin typeface="Pretendard"/>
                <a:ea typeface="Pretendard"/>
              </a:rPr>
              <a:t>최고 품질, 숙련·유료 부담</a:t>
            </a:r>
          </a:p>
        </p:txBody>
      </p:sp>
      <p:sp>
        <p:nvSpPr>
          <p:cNvPr id="9" name="!!c3"/>
          <p:cNvSpPr/>
          <p:nvPr/>
        </p:nvSpPr>
        <p:spPr>
          <a:xfrm>
            <a:off x="5074920" y="1783080"/>
            <a:ext cx="2039112" cy="3429000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t" wrap="square" lIns="228600" rIns="228600" tIns="182880" bIns="182880">
            <a:noAutofit/>
          </a:bodyPr>
          <a:lstStyle/>
          <a:p>
            <a:pPr algn="l">
              <a:spcAft>
                <a:spcPts val="1200"/>
              </a:spcAft>
            </a:pPr>
            <a:r>
              <a:rPr sz="3200" b="1">
                <a:solidFill>
                  <a:srgbClr val="012060"/>
                </a:solidFill>
                <a:latin typeface="Pretendard"/>
                <a:ea typeface="Pretendard"/>
              </a:rPr>
              <a:t>03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012060"/>
                </a:solidFill>
                <a:latin typeface="Pretendard"/>
                <a:ea typeface="Pretendard"/>
              </a:rPr>
              <a:t>코드 기반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404040"/>
                </a:solidFill>
                <a:latin typeface="Pretendard"/>
                <a:ea typeface="Pretendard"/>
              </a:rPr>
              <a:t>HyperFrames · Remotion · Manim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08080"/>
                </a:solidFill>
                <a:latin typeface="Pretendard"/>
                <a:ea typeface="Pretendard"/>
              </a:rPr>
              <a:t>장면 코드 → 프레임 렌더링 → MP4</a:t>
            </a:r>
          </a:p>
        </p:txBody>
      </p:sp>
      <p:sp>
        <p:nvSpPr>
          <p:cNvPr id="10" name="!!c4"/>
          <p:cNvSpPr/>
          <p:nvPr/>
        </p:nvSpPr>
        <p:spPr>
          <a:xfrm>
            <a:off x="7342631" y="1783080"/>
            <a:ext cx="2039112" cy="3429000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t" wrap="square" lIns="228600" rIns="228600" tIns="182880" bIns="182880">
            <a:noAutofit/>
          </a:bodyPr>
          <a:lstStyle/>
          <a:p>
            <a:pPr algn="l">
              <a:spcAft>
                <a:spcPts val="1200"/>
              </a:spcAft>
            </a:pPr>
            <a:r>
              <a:rPr sz="3200" b="1">
                <a:solidFill>
                  <a:srgbClr val="012060"/>
                </a:solidFill>
                <a:latin typeface="Pretendard"/>
                <a:ea typeface="Pretendard"/>
              </a:rPr>
              <a:t>04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012060"/>
                </a:solidFill>
                <a:latin typeface="Pretendard"/>
                <a:ea typeface="Pretendard"/>
              </a:rPr>
              <a:t>AI 디자인 도구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404040"/>
                </a:solidFill>
                <a:latin typeface="Pretendard"/>
                <a:ea typeface="Pretendard"/>
              </a:rPr>
              <a:t>Claude Design · Claude Code + 스킬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08080"/>
                </a:solidFill>
                <a:latin typeface="Pretendard"/>
                <a:ea typeface="Pretendard"/>
              </a:rPr>
              <a:t>자연어 지시 → AI가 모션 코드 작성</a:t>
            </a:r>
          </a:p>
        </p:txBody>
      </p:sp>
      <p:sp>
        <p:nvSpPr>
          <p:cNvPr id="11" name="!!c5"/>
          <p:cNvSpPr/>
          <p:nvPr/>
        </p:nvSpPr>
        <p:spPr>
          <a:xfrm>
            <a:off x="9601200" y="1783080"/>
            <a:ext cx="2039112" cy="3429000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t" wrap="square" lIns="228600" rIns="228600" tIns="182880" bIns="182880">
            <a:noAutofit/>
          </a:bodyPr>
          <a:lstStyle/>
          <a:p>
            <a:pPr algn="l">
              <a:spcAft>
                <a:spcPts val="1200"/>
              </a:spcAft>
            </a:pPr>
            <a:r>
              <a:rPr sz="3200" b="1">
                <a:solidFill>
                  <a:srgbClr val="012060"/>
                </a:solidFill>
                <a:latin typeface="Pretendard"/>
                <a:ea typeface="Pretendard"/>
              </a:rPr>
              <a:t>05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012060"/>
                </a:solidFill>
                <a:latin typeface="Pretendard"/>
                <a:ea typeface="Pretendard"/>
              </a:rPr>
              <a:t>AI 생성형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404040"/>
                </a:solidFill>
                <a:latin typeface="Pretendard"/>
                <a:ea typeface="Pretendard"/>
              </a:rPr>
              <a:t>NotebookLM · Kling · Veo · Vrew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08080"/>
                </a:solidFill>
                <a:latin typeface="Pretendard"/>
                <a:ea typeface="Pretendard"/>
              </a:rPr>
              <a:t>최단 시간, 세부 통제 낮음</a:t>
            </a:r>
          </a:p>
        </p:txBody>
      </p:sp>
      <p:sp>
        <p:nvSpPr>
          <p:cNvPr id="12" name="!!banner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012060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ctr" wrap="square" lIns="137160" rIns="137160" tIns="137160" bIns="13716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2026년 흐름  ·  AI가 코드로 모션 작성 → MP4 렌더링 방식 확산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800" advTm="3000">
        <p:fade/>
      </p:transition>
    </mc:Choice>
    <mc:Fallback>
      <p:transition spd="slow" advTm="3000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_proj"/>
          <p:cNvSpPr/>
          <p:nvPr/>
        </p:nvSpPr>
        <p:spPr>
          <a:xfrm>
            <a:off x="9262872" y="4572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Pretendard"/>
                <a:ea typeface="Pretendard"/>
              </a:rPr>
              <a:t>AX · Motion Slide Test</a:t>
            </a:r>
          </a:p>
        </p:txBody>
      </p:sp>
      <p:sp>
        <p:nvSpPr>
          <p:cNvPr id="3" name="!!_title"/>
          <p:cNvSpPr/>
          <p:nvPr/>
        </p:nvSpPr>
        <p:spPr>
          <a:xfrm>
            <a:off x="548640" y="41148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12060"/>
                </a:solidFill>
                <a:latin typeface="Pretendard"/>
                <a:ea typeface="Pretendard"/>
              </a:rPr>
              <a:t>배경 애니메이션 슬라이드 제작 방식</a:t>
            </a:r>
          </a:p>
        </p:txBody>
      </p:sp>
      <p:sp>
        <p:nvSpPr>
          <p:cNvPr id="4" name="!!_sub"/>
          <p:cNvSpPr/>
          <p:nvPr/>
        </p:nvSpPr>
        <p:spPr>
          <a:xfrm>
            <a:off x="548640" y="105156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04040"/>
                </a:solidFill>
                <a:latin typeface="Pretendard"/>
                <a:ea typeface="Pretendard"/>
              </a:rPr>
              <a:t>— ③ 코드 기반 · 장면을 코드로 정의해 MP4 렌더링</a:t>
            </a:r>
          </a:p>
        </p:txBody>
      </p:sp>
      <p:sp>
        <p:nvSpPr>
          <p:cNvPr id="5" name="!!_div"/>
          <p:cNvSpPr/>
          <p:nvPr/>
        </p:nvSpPr>
        <p:spPr>
          <a:xfrm>
            <a:off x="548640" y="1504188"/>
            <a:ext cx="11091672" cy="12801"/>
          </a:xfrm>
          <a:prstGeom prst="rect">
            <a:avLst/>
          </a:prstGeom>
          <a:solidFill>
            <a:srgbClr val="012060"/>
          </a:solidFill>
          <a:ln>
            <a:noFill/>
          </a:ln>
        </p:spPr>
        <p:txBody>
          <a:bodyPr rtlCol="0" anchor="t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6" name="!!_pg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12060"/>
                </a:solidFill>
                <a:latin typeface="Pretendard"/>
                <a:ea typeface="Pretendard"/>
              </a:rPr>
              <a:t>02  /  04</a:t>
            </a:r>
          </a:p>
        </p:txBody>
      </p:sp>
      <p:sp>
        <p:nvSpPr>
          <p:cNvPr id="7" name="!!c1"/>
          <p:cNvSpPr/>
          <p:nvPr/>
        </p:nvSpPr>
        <p:spPr>
          <a:xfrm>
            <a:off x="548640" y="1783080"/>
            <a:ext cx="3017520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ctr" wrap="square" lIns="228600" rIns="22860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12060"/>
                </a:solidFill>
                <a:latin typeface="Pretendard"/>
                <a:ea typeface="Pretendard"/>
              </a:rPr>
              <a:t>01  슬라이드 전환형</a:t>
            </a:r>
          </a:p>
        </p:txBody>
      </p:sp>
      <p:sp>
        <p:nvSpPr>
          <p:cNvPr id="8" name="!!c2"/>
          <p:cNvSpPr/>
          <p:nvPr/>
        </p:nvSpPr>
        <p:spPr>
          <a:xfrm>
            <a:off x="548640" y="2697480"/>
            <a:ext cx="3017520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ctr" wrap="square" lIns="228600" rIns="22860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12060"/>
                </a:solidFill>
                <a:latin typeface="Pretendard"/>
                <a:ea typeface="Pretendard"/>
              </a:rPr>
              <a:t>02  모션그래픽 툴</a:t>
            </a:r>
          </a:p>
        </p:txBody>
      </p:sp>
      <p:sp>
        <p:nvSpPr>
          <p:cNvPr id="9" name="!!c3"/>
          <p:cNvSpPr/>
          <p:nvPr/>
        </p:nvSpPr>
        <p:spPr>
          <a:xfrm>
            <a:off x="3794760" y="1783080"/>
            <a:ext cx="7845552" cy="4434840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t" wrap="square" lIns="411480" rIns="411480" tIns="182880" b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012060"/>
                </a:solidFill>
                <a:latin typeface="Pretendard"/>
                <a:ea typeface="Pretendard"/>
              </a:rPr>
              <a:t>03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012060"/>
                </a:solidFill>
                <a:latin typeface="Pretendard"/>
                <a:ea typeface="Pretendard"/>
              </a:rPr>
              <a:t>코드 기반</a:t>
            </a:r>
          </a:p>
          <a:p>
            <a:pPr algn="l">
              <a:spcAft>
                <a:spcPts val="3000"/>
              </a:spcAft>
            </a:pPr>
            <a:r>
              <a:rPr sz="1500" b="0">
                <a:solidFill>
                  <a:srgbClr val="808080"/>
                </a:solidFill>
                <a:latin typeface="Pretendard"/>
                <a:ea typeface="Pretendard"/>
              </a:rPr>
              <a:t>HyperFrames(HTML) · Remotion(React) · Motion Canvas(TS) · Manim(Python)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404040"/>
                </a:solidFill>
                <a:latin typeface="Pretendard"/>
                <a:ea typeface="Pretendard"/>
              </a:rPr>
              <a:t>작동 원리  ·  장면을 코드로 정의 → 프레임 단위 렌더링 → MP4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404040"/>
                </a:solidFill>
                <a:latin typeface="Pretendard"/>
                <a:ea typeface="Pretendard"/>
              </a:rPr>
              <a:t>강점  ·  재현성, 일괄 생성, 데이터 연동</a:t>
            </a:r>
          </a:p>
          <a:p>
            <a:pPr algn="l">
              <a:spcAft>
                <a:spcPts val="0"/>
              </a:spcAft>
            </a:pPr>
            <a:r>
              <a:rPr sz="1900" b="0">
                <a:solidFill>
                  <a:srgbClr val="404040"/>
                </a:solidFill>
                <a:latin typeface="Pretendard"/>
                <a:ea typeface="Pretendard"/>
              </a:rPr>
              <a:t>제약  ·  개발 환경 필요, Remotion은 4인 이상 기업 유료 라이선스</a:t>
            </a:r>
          </a:p>
        </p:txBody>
      </p:sp>
      <p:sp>
        <p:nvSpPr>
          <p:cNvPr id="10" name="!!c4"/>
          <p:cNvSpPr/>
          <p:nvPr/>
        </p:nvSpPr>
        <p:spPr>
          <a:xfrm>
            <a:off x="548640" y="3611880"/>
            <a:ext cx="3017520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ctr" wrap="square" lIns="228600" rIns="22860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12060"/>
                </a:solidFill>
                <a:latin typeface="Pretendard"/>
                <a:ea typeface="Pretendard"/>
              </a:rPr>
              <a:t>04  AI 디자인 도구</a:t>
            </a:r>
          </a:p>
        </p:txBody>
      </p:sp>
      <p:sp>
        <p:nvSpPr>
          <p:cNvPr id="11" name="!!c5"/>
          <p:cNvSpPr/>
          <p:nvPr/>
        </p:nvSpPr>
        <p:spPr>
          <a:xfrm>
            <a:off x="548640" y="4526280"/>
            <a:ext cx="3017520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ctr" wrap="square" lIns="228600" rIns="22860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12060"/>
                </a:solidFill>
                <a:latin typeface="Pretendard"/>
                <a:ea typeface="Pretendard"/>
              </a:rPr>
              <a:t>05  AI 생성형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1200" advTm="3000">
        <p159:morph option="byObject"/>
      </p:transition>
    </mc:Choice>
    <mc:Fallback>
      <p:transition spd="slow" advTm="3000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_proj"/>
          <p:cNvSpPr/>
          <p:nvPr/>
        </p:nvSpPr>
        <p:spPr>
          <a:xfrm>
            <a:off x="9262872" y="4572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Pretendard"/>
                <a:ea typeface="Pretendard"/>
              </a:rPr>
              <a:t>AX · Motion Slide Test</a:t>
            </a:r>
          </a:p>
        </p:txBody>
      </p:sp>
      <p:sp>
        <p:nvSpPr>
          <p:cNvPr id="3" name="!!_title"/>
          <p:cNvSpPr/>
          <p:nvPr/>
        </p:nvSpPr>
        <p:spPr>
          <a:xfrm>
            <a:off x="548640" y="41148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12060"/>
                </a:solidFill>
                <a:latin typeface="Pretendard"/>
                <a:ea typeface="Pretendard"/>
              </a:rPr>
              <a:t>배경 애니메이션 슬라이드 제작 방식</a:t>
            </a:r>
          </a:p>
        </p:txBody>
      </p:sp>
      <p:sp>
        <p:nvSpPr>
          <p:cNvPr id="4" name="!!_sub"/>
          <p:cNvSpPr/>
          <p:nvPr/>
        </p:nvSpPr>
        <p:spPr>
          <a:xfrm>
            <a:off x="548640" y="105156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04040"/>
                </a:solidFill>
                <a:latin typeface="Pretendard"/>
                <a:ea typeface="Pretendard"/>
              </a:rPr>
              <a:t>— ④ AI 디자인 도구 · 자연어 지시로 모션 코드 작성</a:t>
            </a:r>
          </a:p>
        </p:txBody>
      </p:sp>
      <p:sp>
        <p:nvSpPr>
          <p:cNvPr id="5" name="!!_div"/>
          <p:cNvSpPr/>
          <p:nvPr/>
        </p:nvSpPr>
        <p:spPr>
          <a:xfrm>
            <a:off x="548640" y="1504188"/>
            <a:ext cx="11091672" cy="12801"/>
          </a:xfrm>
          <a:prstGeom prst="rect">
            <a:avLst/>
          </a:prstGeom>
          <a:solidFill>
            <a:srgbClr val="012060"/>
          </a:solidFill>
          <a:ln>
            <a:noFill/>
          </a:ln>
        </p:spPr>
        <p:txBody>
          <a:bodyPr rtlCol="0" anchor="t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6" name="!!_pg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12060"/>
                </a:solidFill>
                <a:latin typeface="Pretendard"/>
                <a:ea typeface="Pretendard"/>
              </a:rPr>
              <a:t>03  /  04</a:t>
            </a:r>
          </a:p>
        </p:txBody>
      </p:sp>
      <p:sp>
        <p:nvSpPr>
          <p:cNvPr id="7" name="!!c1"/>
          <p:cNvSpPr/>
          <p:nvPr/>
        </p:nvSpPr>
        <p:spPr>
          <a:xfrm>
            <a:off x="548640" y="1783080"/>
            <a:ext cx="3017520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ctr" wrap="square" lIns="228600" rIns="22860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12060"/>
                </a:solidFill>
                <a:latin typeface="Pretendard"/>
                <a:ea typeface="Pretendard"/>
              </a:rPr>
              <a:t>01  슬라이드 전환형</a:t>
            </a:r>
          </a:p>
        </p:txBody>
      </p:sp>
      <p:sp>
        <p:nvSpPr>
          <p:cNvPr id="8" name="!!c2"/>
          <p:cNvSpPr/>
          <p:nvPr/>
        </p:nvSpPr>
        <p:spPr>
          <a:xfrm>
            <a:off x="548640" y="2697480"/>
            <a:ext cx="3017520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ctr" wrap="square" lIns="228600" rIns="22860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12060"/>
                </a:solidFill>
                <a:latin typeface="Pretendard"/>
                <a:ea typeface="Pretendard"/>
              </a:rPr>
              <a:t>02  모션그래픽 툴</a:t>
            </a:r>
          </a:p>
        </p:txBody>
      </p:sp>
      <p:sp>
        <p:nvSpPr>
          <p:cNvPr id="9" name="!!c3"/>
          <p:cNvSpPr/>
          <p:nvPr/>
        </p:nvSpPr>
        <p:spPr>
          <a:xfrm>
            <a:off x="548640" y="3611880"/>
            <a:ext cx="3017520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ctr" wrap="square" lIns="228600" rIns="22860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12060"/>
                </a:solidFill>
                <a:latin typeface="Pretendard"/>
                <a:ea typeface="Pretendard"/>
              </a:rPr>
              <a:t>03  코드 기반</a:t>
            </a:r>
          </a:p>
        </p:txBody>
      </p:sp>
      <p:sp>
        <p:nvSpPr>
          <p:cNvPr id="10" name="!!c4"/>
          <p:cNvSpPr/>
          <p:nvPr/>
        </p:nvSpPr>
        <p:spPr>
          <a:xfrm>
            <a:off x="3794760" y="1783080"/>
            <a:ext cx="7845552" cy="4434840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t" wrap="square" lIns="411480" rIns="411480" tIns="182880" bIns="182880">
            <a:no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012060"/>
                </a:solidFill>
                <a:latin typeface="Pretendard"/>
                <a:ea typeface="Pretendard"/>
              </a:rPr>
              <a:t>04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012060"/>
                </a:solidFill>
                <a:latin typeface="Pretendard"/>
                <a:ea typeface="Pretendard"/>
              </a:rPr>
              <a:t>AI 디자인 도구</a:t>
            </a:r>
          </a:p>
          <a:p>
            <a:pPr algn="l">
              <a:spcAft>
                <a:spcPts val="3000"/>
              </a:spcAft>
            </a:pPr>
            <a:r>
              <a:rPr sz="1500" b="0">
                <a:solidFill>
                  <a:srgbClr val="808080"/>
                </a:solidFill>
                <a:latin typeface="Pretendard"/>
                <a:ea typeface="Pretendard"/>
              </a:rPr>
              <a:t>Claude Design(Animation) · Claude Code + HyperFrames·Remotion 스킬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404040"/>
                </a:solidFill>
                <a:latin typeface="Pretendard"/>
                <a:ea typeface="Pretendard"/>
              </a:rPr>
              <a:t>작동 원리  ·  자연어 지시 → AI가 코드 작성 → 대화로 수정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404040"/>
                </a:solidFill>
                <a:latin typeface="Pretendard"/>
                <a:ea typeface="Pretendard"/>
              </a:rPr>
              <a:t>강점  ·  비전문가 제작 가능, 디자인 시스템으로 브랜드 일관성</a:t>
            </a:r>
          </a:p>
          <a:p>
            <a:pPr algn="l">
              <a:spcAft>
                <a:spcPts val="0"/>
              </a:spcAft>
            </a:pPr>
            <a:r>
              <a:rPr sz="1900" b="0">
                <a:solidFill>
                  <a:srgbClr val="404040"/>
                </a:solidFill>
                <a:latin typeface="Pretendard"/>
                <a:ea typeface="Pretendard"/>
              </a:rPr>
              <a:t>제약  ·  사용량 한도, 외부 처리(자료 등급 게이트 적용)</a:t>
            </a:r>
          </a:p>
        </p:txBody>
      </p:sp>
      <p:sp>
        <p:nvSpPr>
          <p:cNvPr id="11" name="!!c5"/>
          <p:cNvSpPr/>
          <p:nvPr/>
        </p:nvSpPr>
        <p:spPr>
          <a:xfrm>
            <a:off x="548640" y="4526280"/>
            <a:ext cx="3017520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ctr" wrap="square" lIns="228600" rIns="22860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12060"/>
                </a:solidFill>
                <a:latin typeface="Pretendard"/>
                <a:ea typeface="Pretendard"/>
              </a:rPr>
              <a:t>05  AI 생성형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1200" advTm="3000">
        <p159:morph option="byObject"/>
      </p:transition>
    </mc:Choice>
    <mc:Fallback>
      <p:transition spd="slow" advTm="3000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_proj"/>
          <p:cNvSpPr/>
          <p:nvPr/>
        </p:nvSpPr>
        <p:spPr>
          <a:xfrm>
            <a:off x="9262872" y="4572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Pretendard"/>
                <a:ea typeface="Pretendard"/>
              </a:rPr>
              <a:t>AX · Motion Slide Test</a:t>
            </a:r>
          </a:p>
        </p:txBody>
      </p:sp>
      <p:sp>
        <p:nvSpPr>
          <p:cNvPr id="3" name="!!_title"/>
          <p:cNvSpPr/>
          <p:nvPr/>
        </p:nvSpPr>
        <p:spPr>
          <a:xfrm>
            <a:off x="548640" y="41148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12060"/>
                </a:solidFill>
                <a:latin typeface="Pretendard"/>
                <a:ea typeface="Pretendard"/>
              </a:rPr>
              <a:t>사업본부 적용 권고(안)</a:t>
            </a:r>
          </a:p>
        </p:txBody>
      </p:sp>
      <p:sp>
        <p:nvSpPr>
          <p:cNvPr id="4" name="!!_sub"/>
          <p:cNvSpPr/>
          <p:nvPr/>
        </p:nvSpPr>
        <p:spPr>
          <a:xfrm>
            <a:off x="548640" y="105156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04040"/>
                </a:solidFill>
                <a:latin typeface="Pretendard"/>
                <a:ea typeface="Pretendard"/>
              </a:rPr>
              <a:t>— 용도별 3개 경로</a:t>
            </a:r>
          </a:p>
        </p:txBody>
      </p:sp>
      <p:sp>
        <p:nvSpPr>
          <p:cNvPr id="5" name="!!_div"/>
          <p:cNvSpPr/>
          <p:nvPr/>
        </p:nvSpPr>
        <p:spPr>
          <a:xfrm>
            <a:off x="548640" y="1504188"/>
            <a:ext cx="11091672" cy="12801"/>
          </a:xfrm>
          <a:prstGeom prst="rect">
            <a:avLst/>
          </a:prstGeom>
          <a:solidFill>
            <a:srgbClr val="012060"/>
          </a:solidFill>
          <a:ln>
            <a:noFill/>
          </a:ln>
        </p:spPr>
        <p:txBody>
          <a:bodyPr rtlCol="0" anchor="t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6" name="!!_pg"/>
          <p:cNvSpPr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012060"/>
                </a:solidFill>
                <a:latin typeface="Pretendard"/>
                <a:ea typeface="Pretendard"/>
              </a:rPr>
              <a:t>04  /  04</a:t>
            </a:r>
          </a:p>
        </p:txBody>
      </p:sp>
      <p:sp>
        <p:nvSpPr>
          <p:cNvPr id="7" name="!!c1"/>
          <p:cNvSpPr/>
          <p:nvPr/>
        </p:nvSpPr>
        <p:spPr>
          <a:xfrm>
            <a:off x="548640" y="1783080"/>
            <a:ext cx="3511296" cy="34290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t" wrap="square" lIns="274320" rIns="274320" tIns="182880" bIns="182880">
            <a:no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808080"/>
                </a:solidFill>
                <a:latin typeface="Pretendard"/>
                <a:ea typeface="Pretendard"/>
              </a:rPr>
              <a:t>사내 보고·교육</a:t>
            </a:r>
          </a:p>
          <a:p>
            <a:pPr algn="l">
              <a:spcAft>
                <a:spcPts val="2400"/>
              </a:spcAft>
            </a:pPr>
            <a:r>
              <a:rPr sz="2600" b="1">
                <a:solidFill>
                  <a:srgbClr val="012060"/>
                </a:solidFill>
                <a:latin typeface="Pretendard"/>
                <a:ea typeface="Pretendard"/>
              </a:rPr>
              <a:t>PowerPoint 모핑 → MP4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Pretendard"/>
                <a:ea typeface="Pretendard"/>
              </a:rPr>
              <a:t>사내 PC 로컬 처리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404040"/>
                </a:solidFill>
                <a:latin typeface="Pretendard"/>
                <a:ea typeface="Pretendard"/>
              </a:rPr>
              <a:t>다크블루 장표 재사용</a:t>
            </a:r>
          </a:p>
        </p:txBody>
      </p:sp>
      <p:sp>
        <p:nvSpPr>
          <p:cNvPr id="8" name="!!c3"/>
          <p:cNvSpPr/>
          <p:nvPr/>
        </p:nvSpPr>
        <p:spPr>
          <a:xfrm>
            <a:off x="8129016" y="1783080"/>
            <a:ext cx="3511296" cy="34290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t" wrap="square" lIns="274320" rIns="274320" tIns="182880" bIns="182880">
            <a:no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808080"/>
                </a:solidFill>
                <a:latin typeface="Pretendard"/>
                <a:ea typeface="Pretendard"/>
              </a:rPr>
              <a:t>반복 제작</a:t>
            </a:r>
          </a:p>
          <a:p>
            <a:pPr algn="l">
              <a:spcAft>
                <a:spcPts val="2400"/>
              </a:spcAft>
            </a:pPr>
            <a:r>
              <a:rPr sz="2600" b="1">
                <a:solidFill>
                  <a:srgbClr val="012060"/>
                </a:solidFill>
                <a:latin typeface="Pretendard"/>
                <a:ea typeface="Pretendard"/>
              </a:rPr>
              <a:t>Claude Code + 코드 렌더링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Pretendard"/>
                <a:ea typeface="Pretendard"/>
              </a:rPr>
              <a:t>기존 HTML 자산 재활용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404040"/>
                </a:solidFill>
                <a:latin typeface="Pretendard"/>
                <a:ea typeface="Pretendard"/>
              </a:rPr>
              <a:t>무료 라이선스, 재현성 확보</a:t>
            </a:r>
          </a:p>
        </p:txBody>
      </p:sp>
      <p:sp>
        <p:nvSpPr>
          <p:cNvPr id="9" name="!!c4"/>
          <p:cNvSpPr/>
          <p:nvPr/>
        </p:nvSpPr>
        <p:spPr>
          <a:xfrm>
            <a:off x="4343400" y="1783080"/>
            <a:ext cx="3511296" cy="34290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t" wrap="square" lIns="274320" rIns="274320" tIns="182880" bIns="182880">
            <a:no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808080"/>
                </a:solidFill>
                <a:latin typeface="Pretendard"/>
                <a:ea typeface="Pretendard"/>
              </a:rPr>
              <a:t>공개 가능 콘텐츠</a:t>
            </a:r>
          </a:p>
          <a:p>
            <a:pPr algn="l">
              <a:spcAft>
                <a:spcPts val="2400"/>
              </a:spcAft>
            </a:pPr>
            <a:r>
              <a:rPr sz="2600" b="1">
                <a:solidFill>
                  <a:srgbClr val="012060"/>
                </a:solidFill>
                <a:latin typeface="Pretendard"/>
                <a:ea typeface="Pretendard"/>
              </a:rPr>
              <a:t>Claude Design Animation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404040"/>
                </a:solidFill>
                <a:latin typeface="Pretendard"/>
                <a:ea typeface="Pretendard"/>
              </a:rPr>
              <a:t>대화형 수정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404040"/>
                </a:solidFill>
                <a:latin typeface="Pretendard"/>
                <a:ea typeface="Pretendard"/>
              </a:rPr>
              <a:t>디자인 시스템 등록 시 브랜드 일관성</a:t>
            </a:r>
          </a:p>
        </p:txBody>
      </p:sp>
      <p:sp>
        <p:nvSpPr>
          <p:cNvPr id="10" name="!!banner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012060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 rtlCol="0" anchor="ctr" wrap="square" lIns="137160" rIns="137160" tIns="137160" bIns="13716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비권고  ·  Remotion 상용 사용, 외부 생성형 도구에 사내 자료 투입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1200" advTm="3500">
        <p159:morph option="byObject"/>
      </p:transition>
    </mc:Choice>
    <mc:Fallback>
      <p:transition spd="slow" advTm="35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